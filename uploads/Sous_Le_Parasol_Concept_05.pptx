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1675"/>
  <p:notesSz cx="6858000" cy="12191675"/>
  <p:embeddedFontLst>
    <p:embeddedFont>
      <p:font typeface="Helvetica Neue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 05 — The Missing Word. The page is an unfinished sentence: 'when summer is…'. Tapping blooms sound and colour and surfaces drifting words; five of them are keys, one per fragrance. Finding the right word plays its film. The most product-forward of the concepts.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it opens: a blank field, a tip to turn the phone and tap. Each tap = a soft note + a bloom of light. The line 'when summer is…' appears and words surface then fade. Tapping is pleasant in itself — the user slows down without being asked to.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hidden keys: a second prompt — 'find the right word, and disappear with us.' Five drifting words are keys, one per fragrance (bare + four to come). Landing on a key stops the fade, holds it, and opens the horizontal film full-screen — 40 sec of sea and sound. Discovery, earned by hand.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invitation: film ends → scroll reveals the fragrance (Comporta · Le Bleu Sacré + notes + place). One line asks for the email — to be first at launch. Then the gentle loop: play again? four more words still hidden, so the visitor can return and unlock the others.</a:t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it fits: discovery is the brand. The 'art of disappearance' becomes the site's behaviour — meaning is found, not given; the perfume is unlocked, not explained. The email arrives naturally at the end of the game. One word at a time, five summers to uncover.</a:t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191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0" y="1371600"/>
            <a:ext cx="38404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4E"/>
              </a:buClr>
              <a:buSzPts val="21000"/>
              <a:buFont typeface="Georgia"/>
              <a:buNone/>
            </a:pPr>
            <a:r>
              <a:rPr b="0" i="0" lang="en-US" sz="21000" u="none" cap="none" strike="noStrike">
                <a:solidFill>
                  <a:srgbClr val="5E6B4E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5074920" y="1865376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5605272" y="16916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A99B8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0" y="2057400"/>
            <a:ext cx="6766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4700"/>
              <a:buFont typeface="Georgia"/>
              <a:buNone/>
            </a:pPr>
            <a:r>
              <a:rPr b="0" i="0" lang="en-US" sz="47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THE MISSING WORD</a:t>
            </a:r>
            <a:endParaRPr b="0" i="0" sz="4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74920" y="324612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45A"/>
              </a:buClr>
              <a:buSzPts val="2100"/>
              <a:buFont typeface="Georgia"/>
              <a:buNone/>
            </a:pPr>
            <a:r>
              <a:rPr b="0" i="1" lang="en-US" sz="2100" u="none" cap="none" strike="noStrike">
                <a:solidFill>
                  <a:srgbClr val="B8945A"/>
                </a:solidFill>
                <a:latin typeface="Georgia"/>
                <a:ea typeface="Georgia"/>
                <a:cs typeface="Georgia"/>
                <a:sym typeface="Georgia"/>
              </a:rPr>
              <a:t>The homepage is one unfinished sentence.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74920" y="3977640"/>
            <a:ext cx="63093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AAA4"/>
              </a:buClr>
              <a:buSzPts val="1450"/>
              <a:buFont typeface="Helvetica Neue"/>
              <a:buNone/>
            </a:pPr>
            <a:r>
              <a:rPr b="0" i="0" lang="en-US" sz="1450" u="none" cap="none" strike="noStrike">
                <a:solidFill>
                  <a:srgbClr val="B5AAA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most product-forward concept of the set. The page opens almost blank. As you tap, sound and colour bloom under your finger and one line surfaces — when summer is… Words rise and fade: volcano, green, bare. Five of them are keys. Find the right word, and its film begins.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4"/>
          <p:cNvCxnSpPr/>
          <p:nvPr/>
        </p:nvCxnSpPr>
        <p:spPr>
          <a:xfrm>
            <a:off x="822960" y="1499616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1353312" y="1325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7C6A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05 · HOW IT OPENS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77240" y="178308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11913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913"/>
                </a:solidFill>
                <a:latin typeface="Georgia"/>
                <a:ea typeface="Georgia"/>
                <a:cs typeface="Georgia"/>
                <a:sym typeface="Georgia"/>
              </a:rPr>
              <a:t>Tap, and the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11913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913"/>
                </a:solidFill>
                <a:latin typeface="Georgia"/>
                <a:ea typeface="Georgia"/>
                <a:cs typeface="Georgia"/>
                <a:sym typeface="Georgia"/>
              </a:rPr>
              <a:t>words rise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2960" y="3154680"/>
            <a:ext cx="40690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695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E69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site opens as a blank field — almost nothing. A quiet tip invites you to turn the phone sideways and touch the screen.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6E695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E69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tap answers: a soft note, a bloom of light. The line appears — when summer is… — and words surface one at a time, then fade. volcano. green. salt. bare.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6E695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E69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Tapping is the whole pleasure. Before you know it, you have slowed down.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532120" y="868680"/>
            <a:ext cx="5943600" cy="5120640"/>
          </a:xfrm>
          <a:prstGeom prst="roundRect">
            <a:avLst>
              <a:gd fmla="val 1607" name="adj"/>
            </a:avLst>
          </a:prstGeom>
          <a:solidFill>
            <a:srgbClr val="F1ECE3"/>
          </a:solidFill>
          <a:ln cap="flat" cmpd="sng" w="12700">
            <a:solidFill>
              <a:srgbClr val="CDBFA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806440" y="1124712"/>
            <a:ext cx="118872" cy="118872"/>
          </a:xfrm>
          <a:prstGeom prst="ellipse">
            <a:avLst/>
          </a:prstGeom>
          <a:solidFill>
            <a:srgbClr val="D8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989320" y="1124712"/>
            <a:ext cx="118872" cy="118872"/>
          </a:xfrm>
          <a:prstGeom prst="ellipse">
            <a:avLst/>
          </a:prstGeom>
          <a:solidFill>
            <a:srgbClr val="D8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172200" y="1124712"/>
            <a:ext cx="118872" cy="118872"/>
          </a:xfrm>
          <a:prstGeom prst="ellipse">
            <a:avLst/>
          </a:prstGeom>
          <a:solidFill>
            <a:srgbClr val="D8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92240" y="1051560"/>
            <a:ext cx="2834640" cy="292608"/>
          </a:xfrm>
          <a:prstGeom prst="roundRect">
            <a:avLst>
              <a:gd fmla="val 15625" name="adj"/>
            </a:avLst>
          </a:prstGeom>
          <a:solidFill>
            <a:srgbClr val="E9E2D5"/>
          </a:solidFill>
          <a:ln cap="flat" cmpd="sng" w="9525">
            <a:solidFill>
              <a:srgbClr val="CDBF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29400" y="105156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7C6A4F"/>
                </a:solidFill>
                <a:latin typeface="Courier New"/>
                <a:ea typeface="Courier New"/>
                <a:cs typeface="Courier New"/>
                <a:sym typeface="Courier New"/>
              </a:rPr>
              <a:t>sousleparasol.com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52160" y="15544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// turn your phone — tap the dark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326880" y="1490472"/>
            <a:ext cx="1828800" cy="365760"/>
          </a:xfrm>
          <a:prstGeom prst="roundRect">
            <a:avLst>
              <a:gd fmla="val 7500" name="adj"/>
            </a:avLst>
          </a:prstGeom>
          <a:solidFill>
            <a:srgbClr val="F1ECE3"/>
          </a:solidFill>
          <a:ln cap="flat" cmpd="sng" w="9525">
            <a:solidFill>
              <a:srgbClr val="A99B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9326880" y="14904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SKETCH · NOT FINAL DESIGN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035040" y="26060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913"/>
              </a:buClr>
              <a:buSzPts val="2300"/>
              <a:buFont typeface="Georgia"/>
              <a:buNone/>
            </a:pPr>
            <a:r>
              <a:rPr b="0" i="1" lang="en-US" sz="2300" u="none" cap="none" strike="noStrike">
                <a:solidFill>
                  <a:srgbClr val="211913"/>
                </a:solidFill>
                <a:latin typeface="Georgia"/>
                <a:ea typeface="Georgia"/>
                <a:cs typeface="Georgia"/>
                <a:sym typeface="Georgia"/>
              </a:rPr>
              <a:t>when summer is…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098280" y="21031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B0"/>
              </a:buClr>
              <a:buSzPts val="1500"/>
              <a:buFont typeface="Georgia"/>
              <a:buNone/>
            </a:pPr>
            <a:r>
              <a:rPr b="0" i="1" lang="en-US" sz="1500" u="none" cap="none" strike="noStrike">
                <a:solidFill>
                  <a:srgbClr val="C9BEB0"/>
                </a:solidFill>
                <a:latin typeface="Georgia"/>
                <a:ea typeface="Georgia"/>
                <a:cs typeface="Georgia"/>
                <a:sym typeface="Georgia"/>
              </a:rPr>
              <a:t>volcano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738360" y="3200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A692"/>
              </a:buClr>
              <a:buSzPts val="1700"/>
              <a:buFont typeface="Georgia"/>
              <a:buNone/>
            </a:pPr>
            <a:r>
              <a:rPr b="0" i="1" lang="en-US" sz="1700" u="none" cap="none" strike="noStrike">
                <a:solidFill>
                  <a:srgbClr val="B4A692"/>
                </a:solidFill>
                <a:latin typeface="Georgia"/>
                <a:ea typeface="Georgia"/>
                <a:cs typeface="Georgia"/>
                <a:sym typeface="Georgia"/>
              </a:rPr>
              <a:t>green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355080" y="37490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BA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D2C8BA"/>
                </a:solidFill>
                <a:latin typeface="Georgia"/>
                <a:ea typeface="Georgia"/>
                <a:cs typeface="Georgia"/>
                <a:sym typeface="Georgia"/>
              </a:rPr>
              <a:t>salt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001000" y="3337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4E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5E6B4E"/>
                </a:solidFill>
                <a:latin typeface="Georgia"/>
                <a:ea typeface="Georgia"/>
                <a:cs typeface="Georgia"/>
                <a:sym typeface="Georgia"/>
              </a:rPr>
              <a:t>bare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0" y="3017520"/>
            <a:ext cx="1280160" cy="1280160"/>
          </a:xfrm>
          <a:prstGeom prst="ellipse">
            <a:avLst/>
          </a:prstGeom>
          <a:solidFill>
            <a:srgbClr val="F1ECE3">
              <a:alpha val="0"/>
            </a:srgbClr>
          </a:solidFill>
          <a:ln cap="flat" cmpd="sng" w="9525">
            <a:solidFill>
              <a:srgbClr val="A99B8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028432" y="3273552"/>
            <a:ext cx="768096" cy="768096"/>
          </a:xfrm>
          <a:prstGeom prst="ellipse">
            <a:avLst/>
          </a:prstGeom>
          <a:solidFill>
            <a:srgbClr val="F1ECE3">
              <a:alpha val="0"/>
            </a:srgbClr>
          </a:solidFill>
          <a:ln cap="flat" cmpd="sng" w="9525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852160" y="5303520"/>
            <a:ext cx="5303520" cy="384048"/>
          </a:xfrm>
          <a:prstGeom prst="rect">
            <a:avLst/>
          </a:prstGeom>
          <a:solidFill>
            <a:srgbClr val="F1ECE3"/>
          </a:solidFill>
          <a:ln cap="flat" cmpd="sng" w="9525">
            <a:solidFill>
              <a:srgbClr val="A99B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852160" y="53035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7C6A4F"/>
                </a:solidFill>
                <a:latin typeface="Courier New"/>
                <a:ea typeface="Courier New"/>
                <a:cs typeface="Courier New"/>
                <a:sym typeface="Courier New"/>
              </a:rPr>
              <a:t>// sound + colour bloom under your finger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5"/>
          <p:cNvCxnSpPr/>
          <p:nvPr/>
        </p:nvCxnSpPr>
        <p:spPr>
          <a:xfrm>
            <a:off x="822960" y="1499616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5"/>
          <p:cNvSpPr/>
          <p:nvPr/>
        </p:nvSpPr>
        <p:spPr>
          <a:xfrm>
            <a:off x="1353312" y="13258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7C6A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05 · THE HIDDEN KEYS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777240" y="178308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11913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913"/>
                </a:solidFill>
                <a:latin typeface="Georgia"/>
                <a:ea typeface="Georgia"/>
                <a:cs typeface="Georgia"/>
                <a:sym typeface="Georgia"/>
              </a:rPr>
              <a:t>Find the word,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11913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211913"/>
                </a:solidFill>
                <a:latin typeface="Georgia"/>
                <a:ea typeface="Georgia"/>
                <a:cs typeface="Georgia"/>
                <a:sym typeface="Georgia"/>
              </a:rPr>
              <a:t>and it plays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22960" y="3154680"/>
            <a:ext cx="40690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695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E69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Seconds in, a second line surfaces: find the right word — and disappear with us.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6E695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E69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Five of the drifting words are keys, one for each fragrance. bare — and four still to come. Land on a key and it stops fading. It holds, steadies, and the horizontal film opens full-screen.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Clr>
                <a:srgbClr val="6E695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E69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Forty seconds of sea and sound. A small mystery, solved by hand.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532120" y="868680"/>
            <a:ext cx="5943600" cy="5120640"/>
          </a:xfrm>
          <a:prstGeom prst="roundRect">
            <a:avLst>
              <a:gd fmla="val 1607" name="adj"/>
            </a:avLst>
          </a:prstGeom>
          <a:solidFill>
            <a:srgbClr val="F1ECE3"/>
          </a:solidFill>
          <a:ln cap="flat" cmpd="sng" w="12700">
            <a:solidFill>
              <a:srgbClr val="CDBFA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806440" y="1124712"/>
            <a:ext cx="118872" cy="118872"/>
          </a:xfrm>
          <a:prstGeom prst="ellipse">
            <a:avLst/>
          </a:prstGeom>
          <a:solidFill>
            <a:srgbClr val="D8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989320" y="1124712"/>
            <a:ext cx="118872" cy="118872"/>
          </a:xfrm>
          <a:prstGeom prst="ellipse">
            <a:avLst/>
          </a:prstGeom>
          <a:solidFill>
            <a:srgbClr val="D8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172200" y="1124712"/>
            <a:ext cx="118872" cy="118872"/>
          </a:xfrm>
          <a:prstGeom prst="ellipse">
            <a:avLst/>
          </a:prstGeom>
          <a:solidFill>
            <a:srgbClr val="D8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92240" y="10515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// find the 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326880" y="1014984"/>
            <a:ext cx="1828800" cy="365760"/>
          </a:xfrm>
          <a:prstGeom prst="roundRect">
            <a:avLst>
              <a:gd fmla="val 7500" name="adj"/>
            </a:avLst>
          </a:prstGeom>
          <a:solidFill>
            <a:srgbClr val="F1ECE3"/>
          </a:solidFill>
          <a:ln cap="flat" cmpd="sng" w="9525">
            <a:solidFill>
              <a:srgbClr val="A99B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326880" y="10149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SKETCH · NOT FINAL DESIGN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35040" y="17830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913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211913"/>
                </a:solidFill>
                <a:latin typeface="Georgia"/>
                <a:ea typeface="Georgia"/>
                <a:cs typeface="Georgia"/>
                <a:sym typeface="Georgia"/>
              </a:rPr>
              <a:t>when summer is 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961120" y="1801368"/>
            <a:ext cx="1234440" cy="566928"/>
          </a:xfrm>
          <a:prstGeom prst="roundRect">
            <a:avLst>
              <a:gd fmla="val 9677" name="adj"/>
            </a:avLst>
          </a:prstGeom>
          <a:solidFill>
            <a:srgbClr val="E7ECDD"/>
          </a:solidFill>
          <a:ln cap="flat" cmpd="sng" w="12700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961120" y="180136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4E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5E6B4E"/>
                </a:solidFill>
                <a:latin typeface="Georgia"/>
                <a:ea typeface="Georgia"/>
                <a:cs typeface="Georgia"/>
                <a:sym typeface="Georgia"/>
              </a:rPr>
              <a:t>bare 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035040" y="2743200"/>
            <a:ext cx="3063240" cy="1828800"/>
          </a:xfrm>
          <a:prstGeom prst="roundRect">
            <a:avLst>
              <a:gd fmla="val 2500" name="adj"/>
            </a:avLst>
          </a:prstGeom>
          <a:solidFill>
            <a:srgbClr val="E6DFD1"/>
          </a:solidFill>
          <a:ln cap="flat" cmpd="sng" w="12700">
            <a:solidFill>
              <a:srgbClr val="CDBF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315200" y="3383280"/>
            <a:ext cx="548640" cy="548640"/>
          </a:xfrm>
          <a:prstGeom prst="ellipse">
            <a:avLst/>
          </a:prstGeom>
          <a:solidFill>
            <a:srgbClr val="F1ECE3"/>
          </a:solidFill>
          <a:ln cap="flat" cmpd="sng" w="12700">
            <a:solidFill>
              <a:srgbClr val="7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 rot="5400000">
            <a:off x="7488936" y="3502152"/>
            <a:ext cx="237744" cy="310896"/>
          </a:xfrm>
          <a:prstGeom prst="triangle">
            <a:avLst>
              <a:gd fmla="val 50000" name="adj"/>
            </a:avLst>
          </a:prstGeom>
          <a:solidFill>
            <a:srgbClr val="7C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035040" y="42062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6A4F"/>
                </a:solidFill>
                <a:latin typeface="Courier New"/>
                <a:ea typeface="Courier New"/>
                <a:cs typeface="Courier New"/>
                <a:sym typeface="Courier New"/>
              </a:rPr>
              <a:t>horizontal film · 0:40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418320" y="4105656"/>
            <a:ext cx="64008" cy="146304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537192" y="3941064"/>
            <a:ext cx="64008" cy="310896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9656064" y="4032504"/>
            <a:ext cx="64008" cy="219456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774936" y="3794760"/>
            <a:ext cx="64008" cy="457200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9893808" y="3977640"/>
            <a:ext cx="64008" cy="274320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012680" y="3867912"/>
            <a:ext cx="64008" cy="384048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0131552" y="4069080"/>
            <a:ext cx="64008" cy="182880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0250424" y="3922776"/>
            <a:ext cx="64008" cy="329184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0369296" y="4014216"/>
            <a:ext cx="64008" cy="237744"/>
          </a:xfrm>
          <a:prstGeom prst="rect">
            <a:avLst/>
          </a:prstGeom>
          <a:solidFill>
            <a:srgbClr val="5E6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9372600" y="43159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7C6A4F"/>
                </a:solidFill>
                <a:latin typeface="Courier New"/>
                <a:ea typeface="Courier New"/>
                <a:cs typeface="Courier New"/>
                <a:sym typeface="Courier New"/>
              </a:rPr>
              <a:t>sound 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035040" y="463600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// 5 keys hidden — one opens each film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035040" y="49103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4E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5E6B4E"/>
                </a:solidFill>
                <a:latin typeface="Georgia"/>
                <a:ea typeface="Georgia"/>
                <a:cs typeface="Georgia"/>
                <a:sym typeface="Georgia"/>
              </a:rPr>
              <a:t>bare</a:t>
            </a:r>
            <a:r>
              <a:rPr b="0" i="0" lang="en-US" sz="1300" u="none" cap="none" strike="noStrike">
                <a:solidFill>
                  <a:srgbClr val="CDBFA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·   </a:t>
            </a:r>
            <a:r>
              <a:rPr b="0" i="0" lang="en-US" sz="1300" u="none" cap="none" strike="noStrike">
                <a:solidFill>
                  <a:srgbClr val="A99B8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◦ ◦ ◦ ◦</a:t>
            </a:r>
            <a:r>
              <a:rPr b="0" i="0" lang="en-US" sz="100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   four to 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52160" y="5550408"/>
            <a:ext cx="5303520" cy="365760"/>
          </a:xfrm>
          <a:prstGeom prst="rect">
            <a:avLst/>
          </a:prstGeom>
          <a:solidFill>
            <a:srgbClr val="F1ECE3"/>
          </a:solidFill>
          <a:ln cap="flat" cmpd="sng" w="9525">
            <a:solidFill>
              <a:srgbClr val="A99B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852160" y="555040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6A4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7C6A4F"/>
                </a:solidFill>
                <a:latin typeface="Courier New"/>
                <a:ea typeface="Courier New"/>
                <a:cs typeface="Courier New"/>
                <a:sym typeface="Courier New"/>
              </a:rPr>
              <a:t>// land on a key → it holds, then plays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191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6"/>
          <p:cNvCxnSpPr/>
          <p:nvPr/>
        </p:nvCxnSpPr>
        <p:spPr>
          <a:xfrm>
            <a:off x="822960" y="1636776"/>
            <a:ext cx="384048" cy="0"/>
          </a:xfrm>
          <a:prstGeom prst="straightConnector1">
            <a:avLst/>
          </a:prstGeom>
          <a:noFill/>
          <a:ln cap="flat" cmpd="sng" w="22225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1353312" y="14630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A99B8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05 · THE INVITATION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77240" y="18745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3500"/>
              <a:buFont typeface="Georgia"/>
              <a:buNone/>
            </a:pPr>
            <a:r>
              <a:rPr b="0" i="0" lang="en-US" sz="35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When the film ends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22960" y="2788920"/>
            <a:ext cx="5074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5AAA4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B5AAA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film fades, and the fragrance is named. Scroll, and the summer you just watched becomes a bottle — Comporta · Le Bleu Sacré — its three notes, the place it came from.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B5AAA4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B5AAA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quiet line asks for an email: to be first when the collection appears.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22960" y="49834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945A"/>
              </a:buClr>
              <a:buSzPts val="1650"/>
              <a:buFont typeface="Georgia"/>
              <a:buNone/>
            </a:pPr>
            <a:r>
              <a:rPr b="0" i="1" lang="en-US" sz="1650" u="none" cap="none" strike="noStrike">
                <a:solidFill>
                  <a:srgbClr val="B8945A"/>
                </a:solidFill>
                <a:latin typeface="Georgia"/>
                <a:ea typeface="Georgia"/>
                <a:cs typeface="Georgia"/>
                <a:sym typeface="Georgia"/>
              </a:rPr>
              <a:t>Be told when it can be worn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703320" y="4983480"/>
            <a:ext cx="1965960" cy="457200"/>
          </a:xfrm>
          <a:prstGeom prst="rect">
            <a:avLst/>
          </a:prstGeom>
          <a:solidFill>
            <a:srgbClr val="211913"/>
          </a:solidFill>
          <a:ln cap="flat" cmpd="sng" w="12700">
            <a:solidFill>
              <a:srgbClr val="A99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840480" y="49834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your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669280" y="4983480"/>
            <a:ext cx="457200" cy="457200"/>
          </a:xfrm>
          <a:prstGeom prst="rect">
            <a:avLst/>
          </a:prstGeom>
          <a:solidFill>
            <a:srgbClr val="211913"/>
          </a:solidFill>
          <a:ln cap="flat" cmpd="sng" w="12700">
            <a:solidFill>
              <a:srgbClr val="A99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5669280" y="4983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F6F1E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22960" y="5806440"/>
            <a:ext cx="4846320" cy="502920"/>
          </a:xfrm>
          <a:prstGeom prst="rect">
            <a:avLst/>
          </a:prstGeom>
          <a:solidFill>
            <a:srgbClr val="211913"/>
          </a:solidFill>
          <a:ln cap="flat" cmpd="sng" w="12700">
            <a:solidFill>
              <a:srgbClr val="4A3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005840" y="58064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AAA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B5AAA4"/>
                </a:solidFill>
                <a:latin typeface="Courier New"/>
                <a:ea typeface="Courier New"/>
                <a:cs typeface="Courier New"/>
                <a:sym typeface="Courier New"/>
              </a:rPr>
              <a:t>then — play again?  </a:t>
            </a:r>
            <a:r>
              <a:rPr b="0" i="0" lang="en-US" sz="105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four more summers, still hidden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818120" y="868680"/>
            <a:ext cx="2743200" cy="5257800"/>
          </a:xfrm>
          <a:prstGeom prst="roundRect">
            <a:avLst>
              <a:gd fmla="val 7333" name="adj"/>
            </a:avLst>
          </a:prstGeom>
          <a:solidFill>
            <a:srgbClr val="2B2118"/>
          </a:solidFill>
          <a:ln cap="flat" cmpd="sng" w="15875">
            <a:solidFill>
              <a:srgbClr val="463A2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869680" y="978408"/>
            <a:ext cx="640080" cy="118872"/>
          </a:xfrm>
          <a:prstGeom prst="roundRect">
            <a:avLst>
              <a:gd fmla="val 46154" name="adj"/>
            </a:avLst>
          </a:prstGeom>
          <a:solidFill>
            <a:srgbClr val="3A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019288" y="1252728"/>
            <a:ext cx="2340864" cy="1371600"/>
          </a:xfrm>
          <a:prstGeom prst="roundRect">
            <a:avLst>
              <a:gd fmla="val 3333" name="adj"/>
            </a:avLst>
          </a:prstGeom>
          <a:solidFill>
            <a:srgbClr val="3B4C57"/>
          </a:solidFill>
          <a:ln cap="flat" cmpd="sng" w="9525">
            <a:solidFill>
              <a:srgbClr val="4A5A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019288" y="1920240"/>
            <a:ext cx="2340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1D4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E8E1D4"/>
                </a:solidFill>
                <a:latin typeface="Georgia"/>
                <a:ea typeface="Georgia"/>
                <a:cs typeface="Georgia"/>
                <a:sym typeface="Georgia"/>
              </a:rPr>
              <a:t>when summer is bare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092440" y="28803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F6F1E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COMPORTA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092440" y="3200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45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B8945A"/>
                </a:solidFill>
                <a:latin typeface="Georgia"/>
                <a:ea typeface="Georgia"/>
                <a:cs typeface="Georgia"/>
                <a:sym typeface="Georgia"/>
              </a:rPr>
              <a:t>LE BLEU SACRÉ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092440" y="35661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AAA4"/>
              </a:buClr>
              <a:buSzPts val="950"/>
              <a:buFont typeface="Helvetica Neue"/>
              <a:buNone/>
            </a:pPr>
            <a:r>
              <a:rPr b="0" i="0" lang="en-US" sz="950" u="none" cap="none" strike="noStrike">
                <a:solidFill>
                  <a:srgbClr val="B5AAA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Silence · Horizon · Breath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6"/>
          <p:cNvCxnSpPr/>
          <p:nvPr/>
        </p:nvCxnSpPr>
        <p:spPr>
          <a:xfrm>
            <a:off x="8458200" y="4069080"/>
            <a:ext cx="1463040" cy="0"/>
          </a:xfrm>
          <a:prstGeom prst="straightConnector1">
            <a:avLst/>
          </a:prstGeom>
          <a:noFill/>
          <a:ln cap="flat" cmpd="sng" w="12700">
            <a:solidFill>
              <a:srgbClr val="463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6"/>
          <p:cNvSpPr/>
          <p:nvPr/>
        </p:nvSpPr>
        <p:spPr>
          <a:xfrm>
            <a:off x="8092440" y="42062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A99B8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sea, bottled.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138160" y="4983480"/>
            <a:ext cx="2103120" cy="402336"/>
          </a:xfrm>
          <a:prstGeom prst="rect">
            <a:avLst/>
          </a:prstGeom>
          <a:solidFill>
            <a:srgbClr val="1B140E"/>
          </a:solidFill>
          <a:ln cap="flat" cmpd="sng" w="9525">
            <a:solidFill>
              <a:srgbClr val="A99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275320" y="4983480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99B82"/>
                </a:solidFill>
                <a:latin typeface="Courier New"/>
                <a:ea typeface="Courier New"/>
                <a:cs typeface="Courier New"/>
                <a:sym typeface="Courier New"/>
              </a:rPr>
              <a:t>your email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875520" y="4983480"/>
            <a:ext cx="320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6F1E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092440" y="55138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AAA4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B5AAA4"/>
                </a:solidFill>
                <a:latin typeface="Courier New"/>
                <a:ea typeface="Courier New"/>
                <a:cs typeface="Courier New"/>
                <a:sym typeface="Courier New"/>
              </a:rPr>
              <a:t>play again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1913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A99B8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SOUS LE PARASOL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4267048" y="2596896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7"/>
          <p:cNvCxnSpPr/>
          <p:nvPr/>
        </p:nvCxnSpPr>
        <p:spPr>
          <a:xfrm>
            <a:off x="7513168" y="2596896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5E6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7"/>
          <p:cNvSpPr/>
          <p:nvPr/>
        </p:nvSpPr>
        <p:spPr>
          <a:xfrm>
            <a:off x="4678528" y="242316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9B82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A99B8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05 · WHY IT FITS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371600" y="2880360"/>
            <a:ext cx="94484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1E7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F6F1E7"/>
                </a:solidFill>
                <a:latin typeface="Georgia"/>
                <a:ea typeface="Georgia"/>
                <a:cs typeface="Georgia"/>
                <a:sym typeface="Georgia"/>
              </a:rPr>
              <a:t>THE WORD IS THE DOOR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240280" y="3931920"/>
            <a:ext cx="7726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5AAA4"/>
              </a:buClr>
              <a:buSzPts val="1450"/>
              <a:buFont typeface="Helvetica Neue"/>
              <a:buNone/>
            </a:pPr>
            <a:r>
              <a:rPr b="0" i="0" lang="en-US" sz="1450" u="none" cap="none" strike="noStrike">
                <a:solidFill>
                  <a:srgbClr val="B5AAA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turns the house's founding idea — the art of disappearance — into the way the site behaves. Meaning is never handed over; it is found, one word at a time. The fragrance is never explained, only unlocked. And the email arrives naturally: to keep the summer you uncovered, and to be told when it can be worn.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0" y="544068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945A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B8945A"/>
                </a:solidFill>
                <a:latin typeface="Georgia"/>
                <a:ea typeface="Georgia"/>
                <a:cs typeface="Georgia"/>
                <a:sym typeface="Georgia"/>
              </a:rPr>
              <a:t>Say the word.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